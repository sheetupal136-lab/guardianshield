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SEVA FIRST Innovation Challenge 2026 -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4334" y="1744915"/>
            <a:ext cx="5342835" cy="116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SEVA FIRST </a:t>
            </a:r>
            <a:br/>
            <a:r>
              <a:t>Innovation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7067" y="3612805"/>
            <a:ext cx="1201080" cy="3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Title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1828" y="2971800"/>
            <a:ext cx="3768343" cy="348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689" y="3454400"/>
            <a:ext cx="685062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Smart Help &amp; Emergency Instant Location Device - Hybrid IoT Hardware &amp; Autonomous Voice AI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6467" y="3860800"/>
            <a:ext cx="745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Team Name: NEXORA   |   Category: IoT, Embedded Systems, Autonomous AI &amp; Emergency Response   |   Stage-1 &amp; Stage-2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4533900"/>
            <a:ext cx="11752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Sheetal Pal (LEADER)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4787900"/>
            <a:ext cx="117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sheetupal136@gmail.com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5029200"/>
            <a:ext cx="13609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Cloud AI &amp; 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3600" y="4533900"/>
            <a:ext cx="13894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Surbhi Pandey (MEMBER)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3600" y="4787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psurbhi485@gmail.com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3600" y="5029200"/>
            <a:ext cx="14117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Bilingual Voice AI &amp;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533900"/>
            <a:ext cx="15973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Yash Pratap Singh (MEMBER)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4787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y2153406@gmail.com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5029200"/>
            <a:ext cx="15133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ESP32, SOS Trigger &amp; GPS/NVS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3200" y="4533900"/>
            <a:ext cx="155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Alok Kumar Singh (MEMBER)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4787900"/>
            <a:ext cx="14468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aloksinghkumar006@gmail.com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3200" y="5029200"/>
            <a:ext cx="14567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GSM/GSN-800 &amp; Power/Testing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562600"/>
            <a:ext cx="10638392" cy="33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PRIMARY OBJECTIVE: Initiate a traceable emergency alert within &lt; 2 seconds via a Physical SOS Button (GPIO 4) or 24/7 Bilingual Voice AI ('Bachao'/'Help'), acquire verified GPS coordinates (with honest</a:t>
            </a:r>
            <a:br/>
            <a:r>
              <a:t>fix-validity tagging), retain events in non-volatile flash during network dead zones, and dispatch 0-click Email/SMS/WhatsApp alerts to a live Responder Dashboard.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 of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2383" y="1473199"/>
            <a:ext cx="83072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TEAM NAME: NEXORA   |   Track: College / University Innovation   |   Project: GUARDIAN SHIELD (S.H.E.L.D. Hardware + AI Software)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108199"/>
            <a:ext cx="5118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1. Sheetal Pal - TEAM LEADER</a:t>
            </a:r>
            <a:br/>
            <a:r>
              <a:t>LEAD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463799"/>
            <a:ext cx="5342128" cy="64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Email: sheetupal136@gmail.com</a:t>
            </a:r>
            <a:br/>
            <a:r>
              <a:t>&gt;&gt;  Domain: Cloud Architecture, Autonomous AI Agent &amp; Full-Stack IoT Integration</a:t>
            </a:r>
            <a:br/>
            <a:r>
              <a:t>&gt;&gt;  Key Role: Engineered Next.js 16 serverless backend (/api/esp32, /api/agent, /api/alert), Vercel KV Redis</a:t>
            </a:r>
            <a:br/>
            <a:r>
              <a:t>state sync, and 0-click SMTP Email + SMS alert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108199"/>
            <a:ext cx="50420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2. Surbhi Pandey - TEAM MEMBER</a:t>
            </a:r>
            <a:br/>
            <a:r>
              <a:t>VOICE AI &amp;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463799"/>
            <a:ext cx="5352764" cy="64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Email: psurbhi485@gmail.com</a:t>
            </a:r>
            <a:br/>
            <a:r>
              <a:t>&gt;&gt;  Domain: Bilingual Speech Recognition, Neural Voice Deterrence &amp; Dashboard UI</a:t>
            </a:r>
            <a:br/>
            <a:r>
              <a:t>&gt;&gt;  Key Role: Built 24/7 Hindi/English Voice Sentinel ('Bachao'/'Help' STT), ElevenLabs Protective Fake Call</a:t>
            </a:r>
            <a:br/>
            <a:r>
              <a:t>companion, and live Responder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886200"/>
            <a:ext cx="51359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Yash Pratap Singh - TEAM MEMBER</a:t>
            </a:r>
            <a:br/>
            <a:r>
              <a:t>EMBEDDED &amp; GPS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4241800"/>
            <a:ext cx="5273731" cy="648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Email: y2153406@gmail.com</a:t>
            </a:r>
            <a:br/>
            <a:r>
              <a:t>&gt;&gt;  Domain: Microcontroller Firmware, Positioning &amp; Non-Volatile Offline Storage</a:t>
            </a:r>
            <a:br/>
            <a:r>
              <a:t>&gt;&gt;  Key Role: Developed ESP32 firmware (esp32_guardian.ino), 250ms debounced SOS trigger (GPIO 4),</a:t>
            </a:r>
            <a:br/>
            <a:r>
              <a:t>UART2 NEO-6M GPS parser, and NVS offline event queue.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886200"/>
            <a:ext cx="5049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Alok Kumar Singh - TEAM MEMBER</a:t>
            </a:r>
            <a:br/>
            <a:r>
              <a:t>RF / GSM &amp; 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4241800"/>
            <a:ext cx="5143440" cy="648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Email: aloksinghkumar006@gmail.com</a:t>
            </a:r>
            <a:br/>
            <a:r>
              <a:t>&gt;&gt;  Domain: Cellular Hardware Diagnostics (GSN-800/SIM800), Power &amp; Validation</a:t>
            </a:r>
            <a:br/>
            <a:r>
              <a:t>&gt;&gt;  Key Role: Leads 9-step GSN-800 cellular troubleshooting, 2A peak current buck power conditioning,</a:t>
            </a:r>
            <a:br/>
            <a:r>
              <a:t>wearable casing, and 12-point testing protocol.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740400"/>
            <a:ext cx="41571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Multidisciplinary Execution Synergy (Hardware + Firmware + AI + Cloud)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6045200"/>
            <a:ext cx="11127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Our 4-member team covers the complete product lifecycle: Embedded Hardware &amp; Power Conditioning (Yash &amp; Alok) + Cloud Serverless, Bilingual Voice AI &amp; Responder Platform (Sheetal &amp; Surbhi), enabling rapid end-to-end</a:t>
            </a:r>
            <a:br/>
            <a:r>
              <a:t>iteration without external dependencies.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2 of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Detailed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0419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High Reaction Friction in Smartphone Apps (15-25s Delay)</a:t>
            </a:r>
            <a:br/>
            <a:r>
              <a:t>CRITICAL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03400"/>
            <a:ext cx="5300006" cy="63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In an active assault, abduction attempt, or sudden medical emergency, a victim has &lt; 3 seconds to react.</a:t>
            </a:r>
            <a:br/>
            <a:r>
              <a:t>&gt;&gt;  Unlocking a phone via biometrics/PIN, locating a safety app, and tapping an on-screen SOS button takes</a:t>
            </a:r>
            <a:br/>
            <a:r>
              <a:t>15-25 seconds.</a:t>
            </a:r>
            <a:br/>
            <a:r>
              <a:t>&gt;&gt;  If the phone is snatched, knocked away, or hands are restrained, touch-screen apps fail 100% of the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447799"/>
            <a:ext cx="50597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2. Mobile OS Background Termination &amp; Battery Dependency</a:t>
            </a:r>
            <a:br/>
            <a:r>
              <a:t>OS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03400"/>
            <a:ext cx="5220942" cy="956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Android and iOS aggressively suspend background microphone and GPS threads when the smartphone</a:t>
            </a:r>
            <a:br/>
            <a:r>
              <a:t>screen is locked.</a:t>
            </a:r>
            <a:br/>
            <a:r>
              <a:t>&gt;&gt;  Pure software apps become inoperable when the smartphone battery drains during long evening</a:t>
            </a:r>
            <a:br/>
            <a:r>
              <a:t>commutes.</a:t>
            </a:r>
            <a:br/>
            <a:r>
              <a:t>&gt;&gt;  A dedicated, smartphone-independent physical SOS trigger + cellular path is essential for guaranteed</a:t>
            </a:r>
            <a:br/>
            <a:r>
              <a:t>initiation.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276600"/>
            <a:ext cx="51028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Silent Alert Loss in Cellular &amp; Wi-Fi Dead Zones</a:t>
            </a:r>
            <a:br/>
            <a:r>
              <a:t>NETWORK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632200"/>
            <a:ext cx="5281439" cy="956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Underground metro corridors, basement parking lots, elevators, and highway stretches suffer temporary</a:t>
            </a:r>
            <a:br/>
            <a:r>
              <a:t>connectivity loss.</a:t>
            </a:r>
            <a:br/>
            <a:r>
              <a:t>&gt;&gt;  Standard IoT panic buttons fire-and-forget: if GSM/Wi-Fi is unavailable at the moment of button press, the</a:t>
            </a:r>
            <a:br/>
            <a:r>
              <a:t>SOS packet is permanently lost.</a:t>
            </a:r>
            <a:br/>
            <a:r>
              <a:t>&gt;&gt;  Requires local non-volatile flash buffering (PENDING state) with automatic deduplicated sync upon</a:t>
            </a:r>
            <a:br/>
            <a:r>
              <a:t>network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276600"/>
            <a:ext cx="51029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Unverified Indoor GPS &amp; Lack of Closed-Loop Escalation</a:t>
            </a:r>
            <a:br/>
            <a:r>
              <a:t>DATA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632200"/>
            <a:ext cx="5244750" cy="956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Basic GPS trackers transmit stale or zeroed coordinates indoors without flagging whether a valid satellite</a:t>
            </a:r>
            <a:br/>
            <a:r>
              <a:t>fix was obtained.</a:t>
            </a:r>
            <a:br/>
            <a:r>
              <a:t>&gt;&gt;  GSM modules (like GSN-800/SIM800) suffer brownout resets under 2A TX current spikes if power</a:t>
            </a:r>
            <a:br/>
            <a:r>
              <a:t>regulation is unverified.</a:t>
            </a:r>
            <a:br/>
            <a:r>
              <a:t>&gt;&gt;  Sending a single SMS without responder acknowledgement or escalation leaves victims unsure if help is</a:t>
            </a:r>
            <a:br/>
            <a:r>
              <a:t>actually coming.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156200"/>
            <a:ext cx="54930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Latency &amp; Reliability Comparison Flowchart: Conventional App vs. Guardian Shield (S.H.E.L.D.)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7554" y="5499100"/>
            <a:ext cx="1208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Conventional Phone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2941" y="5689600"/>
            <a:ext cx="1177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Unlock + Open App (18-25s)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9013" y="5499100"/>
            <a:ext cx="14389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Phone Snatched / Dead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1435" y="5689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Alert Fails (0% Delivery)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940" y="5499100"/>
            <a:ext cx="12381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S.H.E.L.D. Hybrid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04" y="5689600"/>
            <a:ext cx="14549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1-Press GPIO 4 or 'Bachao' (&lt;0.5s)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5655" y="5499100"/>
            <a:ext cx="14296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Verified GPS + Offline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3986" y="5689600"/>
            <a:ext cx="1293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0-Click Email/SMS + Map (&lt;2s)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070600"/>
            <a:ext cx="92575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Result: S.H.E.L.D. reduces emergency initiation time by &gt;90% (from ~20s to &lt;2s) while eliminating single-point failure through dual triggers (Physical Button + Voice AI) and offline NVS buffering.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3 of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Evidence/data/survey/interviews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5513" y="1498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84.2%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849" y="1879600"/>
            <a:ext cx="2455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Commuters Unable to Unlock Phone in Simulated Panic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3260" y="20259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(N=120)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3814" y="1498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91.5%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2426" y="1879600"/>
            <a:ext cx="241884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Users Prefer Bilingual Voice ('Bachao') + Physical 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658" y="20259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6102" y="1498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1.42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6061" y="1879600"/>
            <a:ext cx="2268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Measured End-to-End Cloud Alert &amp; Email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6696" y="20259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91" y="1498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2.0 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9234" y="1879600"/>
            <a:ext cx="23784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Peak GSM Burst Current Identified in GSN-800 Bench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6041" y="20259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2641599"/>
            <a:ext cx="505600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Primary Survey &amp; Commuter Interviews (Delhi NCR)</a:t>
            </a:r>
            <a:br/>
            <a:r>
              <a:t>N = 120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022600"/>
            <a:ext cx="5356910" cy="1601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Survey Sample: 120 university students, working women, and night-shift commuters across DTU, North</a:t>
            </a:r>
            <a:br/>
            <a:r>
              <a:t>Campus, Rohini, and Connaught Place metro corridors.</a:t>
            </a:r>
            <a:br/>
            <a:r>
              <a:t>&gt;&gt;  Finding 1 (Trigger Preference): 91.5% stated that during sudden stalking or physical confrontation, a</a:t>
            </a:r>
            <a:br/>
            <a:r>
              <a:t>blind-accessible wearable button or shouting 'Bachao / Help' is far more practical than unlocking a phone.</a:t>
            </a:r>
            <a:br/>
            <a:r>
              <a:t>&gt;&gt;  Finding 2 (Language Barrier): 78% of respondents naturally cry out in Hindi/Hinglish ('Bachao', 'Mujhe</a:t>
            </a:r>
            <a:br/>
            <a:r>
              <a:t>Bachao', 'Madad Karo', 'Choro') under stress - motivating our 30+ keyword bilingual speech engine.</a:t>
            </a:r>
            <a:br/>
            <a:r>
              <a:t>&gt;&gt;  Finding 3 (Active Deterrence): 86% wanted an immediate deterrent (loud siren + realistic fake incoming call</a:t>
            </a:r>
            <a:br/>
            <a:r>
              <a:t>from 'Dad / Police Inspector') to de-escalate threats before physical harm occurs.</a:t>
            </a:r>
            <a:br/>
            <a:r>
              <a:t>&gt;&gt;  Finding 4 (Responder Clarity): Guardians reported ignoring generic text alerts unless accompanied by a</a:t>
            </a:r>
            <a:br/>
            <a:r>
              <a:t>live Google Maps pin and verified timestamp.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641599"/>
            <a:ext cx="50292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Empirical Hardware &amp; Network Bench Validation Data</a:t>
            </a:r>
            <a:br/>
            <a:r>
              <a:t>LAB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3022600"/>
            <a:ext cx="5353867" cy="144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Dead-Zone Connectivity Audit: Signal logging across 15 basement parking lots and metro stations showed</a:t>
            </a:r>
            <a:br/>
            <a:r>
              <a:t>18%-24% packet drop windows - directly validating our ESP32 NVS Offline Event Queue.</a:t>
            </a:r>
            <a:br/>
            <a:r>
              <a:t>&gt;&gt;  GSN-800 / GSM Power Diagnostic Data: Bench measurements revealed that powering GSM modules from</a:t>
            </a:r>
            <a:br/>
            <a:r>
              <a:t>standard 500mA USB/LDO rails causes 0.8V voltage droop during 2A TDMA bursts, explaining why our design</a:t>
            </a:r>
            <a:br/>
            <a:r>
              <a:t>uses a dedicated 2A buck converter + 1000uF reservoir capacitor.</a:t>
            </a:r>
            <a:br/>
            <a:r>
              <a:t>&gt;&gt;  GPS Indoor vs. Outdoor Fix Audit: Cold-start outdoor sky lock achieved in 28-35s (+/- 5-10m accuracy),</a:t>
            </a:r>
            <a:br/>
            <a:r>
              <a:t>whereas deep indoor tests lost satellite lock - proving the necessity of explicit gpsValid: true/false tagging.</a:t>
            </a:r>
            <a:br/>
            <a:r>
              <a:t>&gt;&gt;  Switch Debounce Testing: Raw mechanical tactile buttons generated 3-7 bounce transitions within 80ms;</a:t>
            </a:r>
            <a:br/>
            <a:r>
              <a:t>our 250ms firmware debounce achieved 100% single-event accuracy across 200 test presses.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4 of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solutions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409699"/>
            <a:ext cx="30250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Feature / Capability</a:t>
            </a:r>
            <a:br/>
            <a:r>
              <a:t>Smartphone SOS Apps</a:t>
            </a:r>
            <a:br/>
            <a:r>
              <a:t>(112 / Shake Apps)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6300" y="14096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Basic GSM/GPS</a:t>
            </a:r>
            <a:br/>
            <a:r>
              <a:t>Keychain Trackers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7700" y="14096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Premium Smartwatches</a:t>
            </a:r>
            <a:br/>
            <a:r>
              <a:t>(Apple / Galaxy)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09100" y="14096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GUARDIAN SHIELD</a:t>
            </a:r>
            <a:br/>
            <a:r>
              <a:t>(S.H.E.L.D. Hybrid)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905000"/>
            <a:ext cx="302673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Activation Mechanism</a:t>
            </a:r>
            <a:br/>
            <a:r>
              <a:t>Unlock screen + tap app</a:t>
            </a:r>
            <a:br/>
            <a:r>
              <a:t>(15-25s reaction delay)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6300" y="1905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Physical button only</a:t>
            </a:r>
            <a:br/>
            <a:r>
              <a:t>(No voice AI detection)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7700" y="1905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Side button hold</a:t>
            </a:r>
            <a:br/>
            <a:r>
              <a:t>(English Siri/Bixby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9100" y="1905000"/>
            <a:ext cx="11947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1-Press Physical Button +</a:t>
            </a:r>
            <a:br/>
            <a:r>
              <a:t>24/7 Hindi/English Voice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400300"/>
            <a:ext cx="28310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Works Without Phone</a:t>
            </a:r>
            <a:br/>
            <a:r>
              <a:t>No (Fails if phone is</a:t>
            </a:r>
            <a:br/>
            <a:r>
              <a:t>snatched or locked)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2400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Yes (Standalone GSM,</a:t>
            </a:r>
            <a:br/>
            <a:r>
              <a:t>but single-path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7700" y="2400300"/>
            <a:ext cx="1150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LTE models only</a:t>
            </a:r>
            <a:br/>
            <a:r>
              <a:t>(Requires expensive plan)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9100" y="2400300"/>
            <a:ext cx="13185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Yes (ESP32 + GSM/GSN-800</a:t>
            </a:r>
            <a:br/>
            <a:r>
              <a:t>+ Wi-Fi Dual-Path Bridge)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2895600"/>
            <a:ext cx="282019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Offline Dead-Zone Buffer</a:t>
            </a:r>
            <a:br/>
            <a:r>
              <a:t>No (Fails silently in</a:t>
            </a:r>
            <a:br/>
            <a:r>
              <a:t>basements/tunnels)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6300" y="2895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No (Drops SMS packet</a:t>
            </a:r>
            <a:br/>
            <a:r>
              <a:t>if network is lost)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895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Limited cloud retry;</a:t>
            </a:r>
            <a:br/>
            <a:r>
              <a:t>no custom audit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9100" y="2895600"/>
            <a:ext cx="13872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Yes (NVS Flash Queue +</a:t>
            </a:r>
            <a:br/>
            <a:r>
              <a:t>Deduplicated SYNC_OFFLINE)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390900"/>
            <a:ext cx="30348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Honest GPS Fix Tagging</a:t>
            </a:r>
            <a:br/>
            <a:r>
              <a:t>Sends cached cell-tower</a:t>
            </a:r>
            <a:br/>
            <a:r>
              <a:t>location silently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6300" y="3390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Often sends 0.0000 or</a:t>
            </a:r>
            <a:br/>
            <a:r>
              <a:t>stale coordinates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7700" y="3390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Good outdoor GPS;</a:t>
            </a:r>
            <a:br/>
            <a:r>
              <a:t>no responder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9100" y="3390900"/>
            <a:ext cx="11836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Explicit gpsValid: true/false</a:t>
            </a:r>
            <a:br/>
            <a:r>
              <a:t>+ Live Google Maps Pin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100" y="3886200"/>
            <a:ext cx="1015073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Active Acoustic Deterrent</a:t>
            </a:r>
            <a:br/>
            <a:r>
              <a:t>Phone speaker only</a:t>
            </a:r>
            <a:br/>
            <a:r>
              <a:t>Weak piezo beep or none</a:t>
            </a:r>
            <a:br/>
            <a:r>
              <a:t>Low-volume watch speaker</a:t>
            </a:r>
            <a:br/>
            <a:r>
              <a:t>95dB Siren + Strobe LED +</a:t>
            </a:r>
            <a:br/>
            <a:r>
              <a:t>ElevenLabs Fake Police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100" y="4381500"/>
            <a:ext cx="10181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Responder Workflow</a:t>
            </a:r>
            <a:br/>
            <a:r>
              <a:t>One-way SMS only</a:t>
            </a:r>
            <a:br/>
            <a:r>
              <a:t>One-way SMS only</a:t>
            </a:r>
            <a:br/>
            <a:r>
              <a:t>Emergency call only</a:t>
            </a:r>
            <a:br/>
            <a:r>
              <a:t>Live Dashboard + Responder</a:t>
            </a:r>
            <a:br/>
            <a:r>
              <a:t>Acknowledge +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" y="4876800"/>
            <a:ext cx="30928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Estimated Cost (INR)</a:t>
            </a:r>
            <a:br/>
            <a:r>
              <a:t>Free App (Requires</a:t>
            </a:r>
            <a:br/>
            <a:r>
              <a:t>Rs. 15,000+ Smartphone)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6300" y="4876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Rs. 2,500 - Rs. 4,500</a:t>
            </a:r>
            <a:br/>
            <a:r>
              <a:t>(Closed proprietary)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4876800"/>
            <a:ext cx="11040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Rs. 25,000 - Rs. 45,000+</a:t>
            </a:r>
            <a:br/>
            <a:r>
              <a:t>(Unaffordable at scale)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9100" y="4876800"/>
            <a:ext cx="12994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Rs. 1,250 Prototype / Rs. 745</a:t>
            </a:r>
            <a:br/>
            <a:r>
              <a:t>Bulk + Rs. 0 Free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5562600"/>
            <a:ext cx="28292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Key Takeaway: Why Existing Solutions Fall Short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867400"/>
            <a:ext cx="109391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Existing products force an unacceptable trade-off between affordability, standalone hardware reliability, and intelligent software coordination. Guardian Shield (S.H.E.L.D.) is the first sub-Rs. 1,250 open architecture that unifies a</a:t>
            </a:r>
            <a:br/>
            <a:r>
              <a:t>debounced physical SOS wearable, offline-first NVS buffering, honest GPS validity reporting, bilingual Hindi/English voice AI, and a closed-loop responder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5 of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486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S.H.E.L.D. Embedded Hardware Subsystem</a:t>
            </a:r>
            <a:br/>
            <a:r>
              <a:t>IOT WEARABLE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03400"/>
            <a:ext cx="4954566" cy="152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Physical SOS Trigger (GPIO 4): Tactile push button with 250ms debounce for instant blind activation.</a:t>
            </a:r>
            <a:br/>
            <a:r>
              <a:t>&gt;&gt;  Controller (ESP32 Dual-Core): Coordinates input, GPS parsing, local flash storage, and HTTP/AT</a:t>
            </a:r>
            <a:br/>
            <a:r>
              <a:t>communication.</a:t>
            </a:r>
            <a:br/>
            <a:r>
              <a:t>&gt;&gt;  GPS Module (UART2 RX:16/TX:17): Captures latitude, longitude, and explicit fix validity (gpsValid).</a:t>
            </a:r>
            <a:br/>
            <a:r>
              <a:t>&gt;&gt;  GSM/SIM &amp; GSN-800 (UART1 RX:26/TX:27): Standalone cellular SMS/data + Wi-Fi HTTPS bridge</a:t>
            </a:r>
            <a:br/>
            <a:r>
              <a:t>(/api/esp32).</a:t>
            </a:r>
            <a:br/>
            <a:r>
              <a:t>&gt;&gt;  Offline-First NVS Flash Queue: Retains pending SOS events offline and syncs with 0 duplicates on</a:t>
            </a:r>
            <a:br/>
            <a:r>
              <a:t>recovery.</a:t>
            </a:r>
            <a:br/>
            <a:r>
              <a:t>&gt;&gt;  Local Deterrence &amp; Power: Active Buzzer (GPIO 2), Strobe LED (GPIO 5), and 3.7V Li-Po with 2A Buck</a:t>
            </a:r>
            <a:br/>
            <a:r>
              <a:t>Converter.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038600"/>
            <a:ext cx="48680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2. Autonomous AI &amp; Responder Software Platform</a:t>
            </a:r>
            <a:br/>
            <a:r>
              <a:t>NEXT.JS 16 +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394200"/>
            <a:ext cx="5122233" cy="121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24/7 Bilingual Voice Sentinel: Real-time Hindi/English keyword detection ('Bachao', 'Mujhe Bachao', 'Help',</a:t>
            </a:r>
            <a:br/>
            <a:r>
              <a:t>'SOS', 'Madad') via Web Speech + ElevenLabs Scribe v1.</a:t>
            </a:r>
            <a:br/>
            <a:r>
              <a:t>&gt;&gt;  Autonomous Guardian AI Agent: Evaluates threat urgency (90-99% EXTREME) and invokes 0-click tools</a:t>
            </a:r>
            <a:br/>
            <a:r>
              <a:t>(tool_fetch_location, tool_dispatch_emergency_email, tool_record_incident).</a:t>
            </a:r>
            <a:br/>
            <a:r>
              <a:t>&gt;&gt;  ElevenLabs Neural Deterrence: Plays loud vocal emergency warnings and simulates a Protective Fake Call</a:t>
            </a:r>
            <a:br/>
            <a:r>
              <a:t>('Inspector Verma / Dad').</a:t>
            </a:r>
            <a:br/>
            <a:r>
              <a:t>&gt;&gt;  Multi-Channel Dispatch &amp; Dashboard: Sends HTML Email with Google Maps pin, Fast2SMS/Twilio SMS,</a:t>
            </a:r>
            <a:br/>
            <a:r>
              <a:t>WhatsApp SOS, and tracks Responder Acknowledgement &amp; Escalation.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1400" y="1447799"/>
            <a:ext cx="52832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S.H.E.L.D. Hardware Schematic &amp; Prototype Visual</a:t>
            </a:r>
            <a:br/>
            <a:r>
              <a:t>HARDWARE 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400" y="4038600"/>
            <a:ext cx="52756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Autonomous AI &amp; IoT Responder Dashboard</a:t>
            </a:r>
            <a:br/>
            <a:r>
              <a:t>SOFTWARE 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6 of 22</a:t>
            </a:r>
          </a:p>
        </p:txBody>
      </p:sp>
      <p:pic>
        <p:nvPicPr>
          <p:cNvPr id="11" name="Picture 10" descr="shield_hardware_prototype_17917961042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19072"/>
            <a:ext cx="5669280" cy="3164249"/>
          </a:xfrm>
          <a:prstGeom prst="rect">
            <a:avLst/>
          </a:prstGeom>
        </p:spPr>
      </p:pic>
      <p:pic>
        <p:nvPicPr>
          <p:cNvPr id="12" name="Picture 11" descr="guardian_software_dashboard_17917961197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315968"/>
            <a:ext cx="5669280" cy="3164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Conceptual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22399"/>
            <a:ext cx="108991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End-to-End Hybrid System Architecture Flowchart (Hardware -&gt; Offline Queue -&gt; Cloud AI -&gt; Responder)</a:t>
            </a:r>
            <a:br/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283" y="1841500"/>
            <a:ext cx="113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1. Physical SOS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262" y="2032000"/>
            <a:ext cx="11232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GPIO 4 (250ms Debounce)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253" y="2501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2. Bilingual Voice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394" y="2692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'Bachao' / 'Help' (24/7 Mic)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7683" y="2044700"/>
            <a:ext cx="11897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ESP32 Controller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6142" y="2235200"/>
            <a:ext cx="127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Dual-Core Coordinator +</a:t>
            </a:r>
            <a:br/>
            <a:r>
              <a:t>GPIO 2 Siren &amp; GPIO 5 Strobe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676" y="3086100"/>
            <a:ext cx="12017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GPS Module (UART2)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3036" y="3276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Lat/Lng + gpsValid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416" y="1841500"/>
            <a:ext cx="12564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5A. GSM/SIM &amp; GSN-800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4432" y="2032000"/>
            <a:ext cx="11924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Cellular SMS + Wi-Fi 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7697" y="2527300"/>
            <a:ext cx="13659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5B. Local NVS Flash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33" y="2717800"/>
            <a:ext cx="13832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Offline Buffer (PENDING-&gt;SENT)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8381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6. Cloud API &amp; KV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42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Next.js /api/esp32 +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4597" y="2628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7. Guardian 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4842" y="2819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Threat Score 99% +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850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8A. 0-Click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5346" y="2032000"/>
            <a:ext cx="11025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HTML Email + SMS +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2559" y="2628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8B. Responder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6462" y="2819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Acknowledge &amp;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3708400"/>
            <a:ext cx="107199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DATA FLOW PRINCIPLE: Physical SOS Trigger -&gt; Controller / Processing Unit -&gt; GPS Location Source (Verified vs. Unverified Tag) -&gt; GSM/SIM &amp; Wi-Fi Communication (with Local NVS Offline Retention &amp; Deduplicated Sync) -&gt;</a:t>
            </a:r>
            <a:br/>
            <a:r>
              <a:t>Emergency Response Backend -&gt; Responder Dashboard (Acknowledge &amp; Escalation).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" y="4457700"/>
            <a:ext cx="96632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Hardware Subsystem</a:t>
            </a:r>
            <a:br/>
            <a:r>
              <a:t>Pin / Interface</a:t>
            </a:r>
            <a:br/>
            <a:r>
              <a:t>Software Integration (/api/esp32 &amp; Dashboard)</a:t>
            </a:r>
            <a:br/>
            <a:r>
              <a:t>Verification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100" y="4800600"/>
            <a:ext cx="10151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Physical SOS Button / Trigger</a:t>
            </a:r>
            <a:br/>
            <a:r>
              <a:t>GPIO 4 (INPUT_PULLUP)</a:t>
            </a:r>
            <a:br/>
            <a:r>
              <a:t>Initiates emergency event &amp; unique eventId</a:t>
            </a:r>
            <a:br/>
            <a:r>
              <a:t>Core project feature (Verified)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100" y="5143500"/>
            <a:ext cx="103099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ESP32 Microcontroller Board</a:t>
            </a:r>
            <a:br/>
            <a:r>
              <a:t>Dual-Core 240MHz MCU</a:t>
            </a:r>
            <a:br/>
            <a:r>
              <a:t>Reads trigger, coordinates GPS, NVS &amp; API polling</a:t>
            </a:r>
            <a:br/>
            <a:r>
              <a:t>Firmware active; board rev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100" y="5486400"/>
            <a:ext cx="102478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GPS Positioning Receiver</a:t>
            </a:r>
            <a:br/>
            <a:r>
              <a:t>UART2 (RX:16, TX:17)</a:t>
            </a:r>
            <a:br/>
            <a:r>
              <a:t>Live Google Maps pin + gpsValid fix verification</a:t>
            </a:r>
            <a:br/>
            <a:r>
              <a:t>NMEA parser active; sky fix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829300"/>
            <a:ext cx="1035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GSM/SIM &amp; GSN-800 Module</a:t>
            </a:r>
            <a:br/>
            <a:r>
              <a:t>UART1 (RX:26, TX:27)</a:t>
            </a:r>
            <a:br/>
            <a:r>
              <a:t>Standalone cellular SMS + Wi-Fi HTTPS transport</a:t>
            </a:r>
            <a:br/>
            <a:r>
              <a:t>9-step diagnostic &amp; network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100" y="6172200"/>
            <a:ext cx="102140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Local Non-Volatile Storage</a:t>
            </a:r>
            <a:br/>
            <a:r>
              <a:t>ESP32 Flash NVS Queue</a:t>
            </a:r>
            <a:br/>
            <a:r>
              <a:t>SYNC_OFFLINE endpoint with duplicate prevention</a:t>
            </a:r>
            <a:br/>
            <a:r>
              <a:t>Implemented in firmware &amp;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7 of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22399"/>
            <a:ext cx="1098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8-Step End-to-End Working Principle Flowchart (Section 6 of Hardware Report)</a:t>
            </a:r>
            <a:br/>
            <a:r>
              <a:t>8-STEP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2507" y="1841500"/>
            <a:ext cx="1110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1: SOS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8714" y="2032000"/>
            <a:ext cx="11385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User presses Physical 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9060" y="2168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button or says 'Bachao'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852" y="1841500"/>
            <a:ext cx="11110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2: Input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263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MCU detects debounced</a:t>
            </a:r>
            <a:br/>
            <a:r>
              <a:t>press &amp; starts Siren/LED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4002" y="1841500"/>
            <a:ext cx="11655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3: GPS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5032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Reads latest Lat/Lng &amp;</a:t>
            </a:r>
            <a:br/>
            <a:r>
              <a:t>checks gpsValid fix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0860" y="1841500"/>
            <a:ext cx="125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4: Event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6109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Packages JSON with ID,</a:t>
            </a:r>
            <a:br/>
            <a:r>
              <a:t>timestamp &amp; coordinates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6136" y="2857500"/>
            <a:ext cx="11837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8: Offline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235" y="3048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If offline, buffers in NVS &amp;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4976" y="3184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auto-syncs without dupes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3621" y="2857500"/>
            <a:ext cx="13475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7: Response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1199" y="3048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Dashboard shows alert;</a:t>
            </a:r>
            <a:br/>
            <a:r>
              <a:t>Acknowledge &amp;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799" y="2857500"/>
            <a:ext cx="13540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6: Backend &amp; 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712" y="3048000"/>
            <a:ext cx="1118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Updates Redis KV &amp; sends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0025" y="3184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0-Click Email/SMS/Map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8638" y="2857500"/>
            <a:ext cx="11351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Step 5: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733" y="3048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Transmits via GSM/SIM 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5620" y="3184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Wi-Fi HTTPS (/api/esp32)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3632200"/>
            <a:ext cx="110039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HONEST LOCATION &amp; DELIVERY GUARANTEE: Emergency delivery is never assumed merely because the SOS button was pressed. Unverified indoor coordinates are explicitly flagged (gpsValid: false), and offline events remain in</a:t>
            </a:r>
            <a:br/>
            <a:r>
              <a:t>PENDING state until backend acknowledgement succeeds.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4394200"/>
            <a:ext cx="110008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Section 9: 9-Step Diagnostic &amp; Integration Protocol for Installed GSN-800 / Cellular Module</a:t>
            </a:r>
            <a:br/>
            <a:r>
              <a:t>GSN-800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749800"/>
            <a:ext cx="4575638" cy="7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1. Identify Hardware: Photograph front/back IC markings &amp; confirm exact datasheet pinout.</a:t>
            </a:r>
            <a:br/>
            <a:r>
              <a:t>&gt;&gt;  2. Check Supply Voltage: Measure voltage at module pins (3.7V-4.2V nominal; never raw 5V).</a:t>
            </a:r>
            <a:br/>
            <a:r>
              <a:t>&gt;&gt;  3. Check Current Capacity: Ensure buck regulator handles &gt;= 2.0A peak GSM TX bursts.</a:t>
            </a:r>
            <a:br/>
            <a:r>
              <a:t>&gt;&gt;  4. Inspect Connections: Verify common GND, UART TX/RX crossover, and antenna seating.</a:t>
            </a:r>
            <a:br/>
            <a:r>
              <a:t>&gt;&gt;  5. Check Startup Status: Observe Netlight LED blink cadence (1s searching vs. 3s registered).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0" y="4749800"/>
            <a:ext cx="4675243" cy="61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6. Test Serial Interface: Run AT, AT+CPIN?, AT+CSQ, AT+CREG? via standalone USB-TTL.</a:t>
            </a:r>
            <a:br/>
            <a:r>
              <a:t>&gt;&gt;  7. Isolate the Fault: Benchmark the GSN-800 module separately from the full S.H.E.L.D. system.</a:t>
            </a:r>
            <a:br/>
            <a:r>
              <a:t>&gt;&gt;  8. Integrate Gradually: Reconnect ESP32 controller, NEO-6M GPS, and buzzer one at a time.</a:t>
            </a:r>
            <a:br/>
            <a:r>
              <a:t>&gt;&gt;  9. Record Results: Document measured voltages, signal quality, and corrective actions.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8 of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Preliminary calculations/simulation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48717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Electrical Power Budget &amp; AI Threat Calculations</a:t>
            </a:r>
            <a:br/>
            <a:r>
              <a:t>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03399"/>
            <a:ext cx="4654908" cy="232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1. Battery Autonomy &amp; Current Budget (1200 mAh 3.7V Li-Po):</a:t>
            </a:r>
            <a:br/>
            <a:r>
              <a:t>   - Standby Current: I_idle = 30mA (ESP32) + 15mA (GPS/GSM idle) = 45 mA</a:t>
            </a:r>
            <a:br/>
            <a:r>
              <a:t>   - Standby Runtime: T_standby = 1200 mAh / 45 mA = 26.6 Hours continuous</a:t>
            </a:r>
            <a:br/>
            <a:r>
              <a:t>   - Active SOS + GSM TX Burst: I_peak = 1.85 A (577 us TDMA burst), I_avg = 280 mA</a:t>
            </a:r>
            <a:br/>
            <a:r>
              <a:t>2. GSM Burst Decoupling Capacitor Calculation (GSN-800 Stability):</a:t>
            </a:r>
            <a:br/>
            <a:r>
              <a:t>   - Max allowable voltage droop during 577 us GSM TX slot: dV_max = 0.25 V</a:t>
            </a:r>
            <a:br/>
            <a:r>
              <a:t>   - Reservoir Cap: C = (I_burst * dt) / dV = (2.0A * 0.0006s) / 0.25V = 4,800 uF (Implemented via 2A</a:t>
            </a:r>
            <a:br/>
            <a:r>
              <a:t>Fast-Transient Buck + 1000 uF Low-ESR Cap)</a:t>
            </a:r>
            <a:br/>
            <a:r>
              <a:t>3. Debounce &amp; NVS Offline Buffer Capacity:</a:t>
            </a:r>
            <a:br/>
            <a:r>
              <a:t>   - Hardware Trigger Debounce: T_db = 250 ms (eliminates 100% contact bounce)</a:t>
            </a:r>
            <a:br/>
            <a:r>
              <a:t>   - NVS Event Record Size: 64 Bytes/event -&gt; Stores &gt; 500 offline SOS events</a:t>
            </a:r>
            <a:br/>
            <a:r>
              <a:t>4. Autonomous AI Urgency Score Model (guardianAgent.ts):</a:t>
            </a:r>
            <a:br/>
            <a:r>
              <a:t>   - Score U = max(W_trigger, max(W_keyword)) in [0.90, 0.99]</a:t>
            </a:r>
            <a:br/>
            <a:r>
              <a:t>   - Threat Classification: U &gt;= 0.97 -&gt; EXTREME | U &gt;= 0.92 -&gt; CRITICAL</a:t>
            </a:r>
            <a:br/>
            <a:r>
              <a:t>   - Measured API Dispatch Time: 1.42s (Email + Redis KV + Audit Log)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1400" y="1447799"/>
            <a:ext cx="5275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Section 8: 12-Point Hardware &amp; Software Validation Plan</a:t>
            </a:r>
            <a:br/>
            <a:r>
              <a:t>12 TEST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4100" y="1816100"/>
            <a:ext cx="3682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#</a:t>
            </a:r>
            <a:br/>
            <a:r>
              <a:t>Validation Test</a:t>
            </a:r>
            <a:br/>
            <a:r>
              <a:t>Procedure &amp; Expected Engineering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4100" y="2171700"/>
            <a:ext cx="4396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</a:t>
            </a:r>
            <a:br/>
            <a:r>
              <a:t>Power-on test</a:t>
            </a:r>
            <a:br/>
            <a:r>
              <a:t>Power via rated supply -&gt; MCU boots with 0 brownout resets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4100" y="2527300"/>
            <a:ext cx="43383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</a:t>
            </a:r>
            <a:br/>
            <a:r>
              <a:t>SOS trigger test</a:t>
            </a:r>
            <a:br/>
            <a:r>
              <a:t>Press physical GPIO 4 button -&gt; Debounced input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100" y="2882900"/>
            <a:ext cx="43807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</a:t>
            </a:r>
            <a:br/>
            <a:r>
              <a:t>GPS outdoor test</a:t>
            </a:r>
            <a:br/>
            <a:r>
              <a:t>Test with clear sky view -&gt; Valid coordinates (gpsValid: 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100" y="3238500"/>
            <a:ext cx="46677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</a:t>
            </a:r>
            <a:br/>
            <a:r>
              <a:t>Cellular reg. test</a:t>
            </a:r>
            <a:br/>
            <a:r>
              <a:t>Insert active compatible SIM -&gt; Registers on network (AT+CREG?)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3594099"/>
            <a:ext cx="4305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5</a:t>
            </a:r>
            <a:br/>
            <a:r>
              <a:t>Transmission test</a:t>
            </a:r>
            <a:br/>
            <a:r>
              <a:t>Trigger SOS -&gt; Payload transmitted via /api/esp32 or 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100" y="3949699"/>
            <a:ext cx="44025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6</a:t>
            </a:r>
            <a:br/>
            <a:r>
              <a:t>Dashboard test</a:t>
            </a:r>
            <a:br/>
            <a:r>
              <a:t>Trigger real test event -&gt; Incident appears live on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100" y="4305299"/>
            <a:ext cx="46707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</a:t>
            </a:r>
            <a:br/>
            <a:r>
              <a:t>Acknowledge test</a:t>
            </a:r>
            <a:br/>
            <a:r>
              <a:t>Acknowledge test incident -&gt; Status updates to ACKNOWLEDGED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100" y="4660899"/>
            <a:ext cx="43703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8</a:t>
            </a:r>
            <a:br/>
            <a:r>
              <a:t>Escalation test</a:t>
            </a:r>
            <a:br/>
            <a:r>
              <a:t>Simulate unacknowledged alert -&gt; Escalation logic executes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4100" y="5016499"/>
            <a:ext cx="45794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9</a:t>
            </a:r>
            <a:br/>
            <a:r>
              <a:t>Offline test</a:t>
            </a:r>
            <a:br/>
            <a:r>
              <a:t>Disable comms during SOS -&gt; Event retained in local NVS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4100" y="5372099"/>
            <a:ext cx="45524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10</a:t>
            </a:r>
            <a:br/>
            <a:r>
              <a:t>Recovery test</a:t>
            </a:r>
            <a:br/>
            <a:r>
              <a:t>Restore connectivity -&gt; Syncs via SYNC_OFFLINE with 0 dupes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4100" y="5727699"/>
            <a:ext cx="44827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11</a:t>
            </a:r>
            <a:br/>
            <a:r>
              <a:t>Power stability</a:t>
            </a:r>
            <a:br/>
            <a:r>
              <a:t>Observe rail during GSM TX burst -&gt; Voltage stays within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4100" y="6083300"/>
            <a:ext cx="439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12</a:t>
            </a:r>
            <a:br/>
            <a:r>
              <a:t>Endurance test</a:t>
            </a:r>
            <a:br/>
            <a:r>
              <a:t>Operate continuously -&gt; Zero unexpected resets or data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9 of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Estimated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409699"/>
            <a:ext cx="104564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#</a:t>
            </a:r>
            <a:br/>
            <a:r>
              <a:t>Component / Subsystem</a:t>
            </a:r>
            <a:br/>
            <a:r>
              <a:t>Technical Specification / Role in S.H.E.L.D.</a:t>
            </a:r>
            <a:br/>
            <a:r>
              <a:t>Qty</a:t>
            </a:r>
            <a:br/>
            <a:r>
              <a:t>Prototype (INR)</a:t>
            </a:r>
            <a:br/>
            <a:r>
              <a:t>Bulk 1k (INR)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790700"/>
            <a:ext cx="101799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</a:t>
            </a:r>
            <a:br/>
            <a:r>
              <a:t>Microcontroller Board</a:t>
            </a:r>
            <a:br/>
            <a:r>
              <a:t>ESP32-WROOM-32 DevKit V1 (Dual-Core 240MHz, Wi-Fi/BLE, 4MB NVS)</a:t>
            </a:r>
            <a:br/>
            <a:r>
              <a:t>1</a:t>
            </a:r>
            <a:br/>
            <a:r>
              <a:t>Rs. 320</a:t>
            </a:r>
            <a:br/>
            <a:r>
              <a:t>Rs. 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2171700"/>
            <a:ext cx="101799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</a:t>
            </a:r>
            <a:br/>
            <a:r>
              <a:t>GPS Positioning Module</a:t>
            </a:r>
            <a:br/>
            <a:r>
              <a:t>U-blox NEO-6M GPS Receiver + Ceramic Active Patch Antenna (UART2)</a:t>
            </a:r>
            <a:br/>
            <a:r>
              <a:t>1</a:t>
            </a:r>
            <a:br/>
            <a:r>
              <a:t>Rs. 260</a:t>
            </a:r>
            <a:br/>
            <a:r>
              <a:t>Rs. 165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2552700"/>
            <a:ext cx="101799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</a:t>
            </a:r>
            <a:br/>
            <a:r>
              <a:t>GSM/SIM Cellular Module</a:t>
            </a:r>
            <a:br/>
            <a:r>
              <a:t>GSN-800 / SIM800L Quad-Band GSM/GPRS Module + Antenna (UART1)</a:t>
            </a:r>
            <a:br/>
            <a:r>
              <a:t>1</a:t>
            </a:r>
            <a:br/>
            <a:r>
              <a:t>Rs. 280</a:t>
            </a:r>
            <a:br/>
            <a:r>
              <a:t>Rs. 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2933700"/>
            <a:ext cx="101234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</a:t>
            </a:r>
            <a:br/>
            <a:r>
              <a:t>Physical SOS Trigger</a:t>
            </a:r>
            <a:br/>
            <a:r>
              <a:t>Heavy-Duty Tactile Push Button (12mm, 250ms debounced, GPIO 4)</a:t>
            </a:r>
            <a:br/>
            <a:r>
              <a:t>1</a:t>
            </a:r>
            <a:br/>
            <a:r>
              <a:t>Rs. 25</a:t>
            </a:r>
            <a:br/>
            <a:r>
              <a:t>Rs.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314700"/>
            <a:ext cx="101799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5</a:t>
            </a:r>
            <a:br/>
            <a:r>
              <a:t>Power &amp; Battery System</a:t>
            </a:r>
            <a:br/>
            <a:r>
              <a:t>3.7V 1200mAh Li-Po + TP4056 Charger + 2A Buck Regulator + 1000uF Cap</a:t>
            </a:r>
            <a:br/>
            <a:r>
              <a:t>1 set</a:t>
            </a:r>
            <a:br/>
            <a:r>
              <a:t>Rs. 240</a:t>
            </a:r>
            <a:br/>
            <a:r>
              <a:t>Rs. 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3695700"/>
            <a:ext cx="101234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6</a:t>
            </a:r>
            <a:br/>
            <a:r>
              <a:t>Status LED &amp; Siren Buzzer</a:t>
            </a:r>
            <a:br/>
            <a:r>
              <a:t>5V Active Piezo Alarm Buzzer (GPIO 2) + High-Bright Strobe LED (GPIO 5)</a:t>
            </a:r>
            <a:br/>
            <a:r>
              <a:t>1 set</a:t>
            </a:r>
            <a:br/>
            <a:r>
              <a:t>Rs. 35</a:t>
            </a:r>
            <a:br/>
            <a:r>
              <a:t>Rs.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4076699"/>
            <a:ext cx="101234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</a:t>
            </a:r>
            <a:br/>
            <a:r>
              <a:t>Enclosure &amp; Interconnects</a:t>
            </a:r>
            <a:br/>
            <a:r>
              <a:t>PCB / Wire Harness, Power Switch &amp; 3D-Printed ABS Wearable Casing</a:t>
            </a:r>
            <a:br/>
            <a:r>
              <a:t>1 set</a:t>
            </a:r>
            <a:br/>
            <a:r>
              <a:t>Rs. 90</a:t>
            </a:r>
            <a:br/>
            <a:r>
              <a:t>Rs. 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4457700"/>
            <a:ext cx="103717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8</a:t>
            </a:r>
            <a:br/>
            <a:r>
              <a:t>Cloud &amp; AI Software Stack</a:t>
            </a:r>
            <a:br/>
            <a:r>
              <a:t>Next.js 16 (Vercel Free), Upstash Redis KV, Web Speech, SMTP Email</a:t>
            </a:r>
            <a:br/>
            <a:r>
              <a:t>Cloud</a:t>
            </a:r>
            <a:br/>
            <a:r>
              <a:t>Rs. 0 (Free)</a:t>
            </a:r>
            <a:br/>
            <a:r>
              <a:t>Rs. 0 (Free)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4838700"/>
            <a:ext cx="101799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-</a:t>
            </a:r>
            <a:br/>
            <a:r>
              <a:t>TOTAL SYSTEM COST</a:t>
            </a:r>
            <a:br/>
            <a:r>
              <a:t>Complete Hybrid Hardware Wearable + Autonomous AI Cloud Platform</a:t>
            </a:r>
            <a:br/>
            <a:r>
              <a:t>1 Unit</a:t>
            </a:r>
            <a:br/>
            <a:r>
              <a:t>Rs. 1,250</a:t>
            </a:r>
            <a:br/>
            <a:r>
              <a:t>Rs. 745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5435600"/>
            <a:ext cx="5029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95% Lower Cost Than Commercial LTE Smartwatches</a:t>
            </a:r>
            <a:br/>
            <a:r>
              <a:t>AFFORDABLE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5765800"/>
            <a:ext cx="5117123" cy="46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At Rs. 1,250 per prototype (and Rs. 745 at 1,000-unit scale), S.H.E.L.D. is 95% more affordable than cellular</a:t>
            </a:r>
            <a:br/>
            <a:r>
              <a:t>smartwatches (Rs. 25,000+), making it financially viable for college students, institutional distributions, and</a:t>
            </a:r>
            <a:br/>
            <a:r>
              <a:t>government welfare schemes.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5435600"/>
            <a:ext cx="51257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Zero Recurring Cloud Infrastructure Cost (Rs. 0 SaaS Fee)</a:t>
            </a:r>
            <a:br/>
            <a:r>
              <a:t>ZERO CLOUD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5765800"/>
            <a:ext cx="48973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By leveraging Vercel Edge Serverless, Upstash Redis free tier, client-side Web Speech API, and direct</a:t>
            </a:r>
            <a:br/>
            <a:r>
              <a:t>Nodemailer SMTP transport, the entire software platform operates with Rs. 0 monthly hosting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10 of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Expected beneficiaries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10291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Women Commuters &amp; College Students (1.5M+ in NCR)</a:t>
            </a:r>
            <a:br/>
            <a:r>
              <a:t>PRIMARY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03400"/>
            <a:ext cx="5291173" cy="626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Daily female passengers on Delhi Metro, DTC buses, and last-mile e-rickshaws.</a:t>
            </a:r>
            <a:br/>
            <a:r>
              <a:t>&gt;&gt;  University students (DTU, DU, NSUT, IP University) commuting from evening labs, hostels, and coaching</a:t>
            </a:r>
            <a:br/>
            <a:r>
              <a:t>hubs.</a:t>
            </a:r>
            <a:br/>
            <a:r>
              <a:t>&gt;&gt;  Provides instant 1-press physical SOS + hands-free 'Bachao' voice trigger + deceptive Guardian Fake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447799"/>
            <a:ext cx="50114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2. Night-Shift &amp; Frontline Workforce</a:t>
            </a:r>
            <a:br/>
            <a:r>
              <a:t>NIGHT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03400"/>
            <a:ext cx="5232014" cy="626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Hospital nurses, resident doctors, BPO/IT professionals, and female gig/delivery workers travelling during</a:t>
            </a:r>
            <a:br/>
            <a:r>
              <a:t>late-night hours.</a:t>
            </a:r>
            <a:br/>
            <a:r>
              <a:t>&gt;&gt;  Offline-first NVS event buffering guarantees SOS retention even in hospital basements or industrial transit</a:t>
            </a:r>
            <a:br/>
            <a:r>
              <a:t>zones.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251199"/>
            <a:ext cx="50724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Senior Citizens &amp; Medical Distress Patients</a:t>
            </a:r>
            <a:br/>
            <a:r>
              <a:t>ELDERLY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606800"/>
            <a:ext cx="5105606" cy="6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Elderly individuals living alone or taking evening walks who may suffer sudden falls, cardiac distress, or</a:t>
            </a:r>
            <a:br/>
            <a:r>
              <a:t>disorientation.</a:t>
            </a:r>
            <a:br/>
            <a:r>
              <a:t>&gt;&gt;  Requires zero smartphone literacy - pressing the single tactile S.H.E.L.D. button dispatches live GPS</a:t>
            </a:r>
            <a:br/>
            <a:r>
              <a:t>coordinates to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251199"/>
            <a:ext cx="50825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School Children &amp; Institutional Security Networks</a:t>
            </a:r>
            <a:br/>
            <a:r>
              <a:t>CAMPUS &amp; RWA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606800"/>
            <a:ext cx="5153107" cy="6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School-going children who do not carry smartphones can wear the standalone S.H.E.L.D. tag in their</a:t>
            </a:r>
            <a:br/>
            <a:r>
              <a:t>backpack or lanyard.</a:t>
            </a:r>
            <a:br/>
            <a:r>
              <a:t>&gt;&gt;  Direct dashboard integration with College Women Development Cells (WDCs), Campus Security Desks,</a:t>
            </a:r>
            <a:br/>
            <a:r>
              <a:t>and RWAs.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130800"/>
            <a:ext cx="44133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3-Phase Beneficiary Rollout &amp; Impact Scale (Aligned with Viksit Bharat 2047)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7750" y="5499100"/>
            <a:ext cx="176029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Phase 1: Campus Pilot (Months 1-3)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4007" y="5689600"/>
            <a:ext cx="1687786" cy="40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100 S.H.E.L.D. Hardware Units +</a:t>
            </a:r>
            <a:br/>
            <a:r>
              <a:t>2,500+ Students on Free Web/Voice App</a:t>
            </a:r>
            <a:br/>
            <a:r>
              <a:t>(DTU &amp; Delhi University Corridors)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8748" y="5499100"/>
            <a:ext cx="2009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Phase 2: City / RWA Scale (Months 4-12)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3579" y="5689600"/>
            <a:ext cx="1679441" cy="40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1,000+ Wearable Units +</a:t>
            </a:r>
            <a:br/>
            <a:r>
              <a:t>25,000+ Active Commuters connected to</a:t>
            </a:r>
            <a:br/>
            <a:r>
              <a:t>Campus Security &amp; RWA Control 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4276" y="5499100"/>
            <a:ext cx="16542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Phase 3: National Scale (Year 2+)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498" y="5689600"/>
            <a:ext cx="159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100,000+ Beneficiaries via Rs. 745</a:t>
            </a:r>
            <a:br/>
            <a:r>
              <a:t>Mass-Manufactured Wearable + 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276" y="5963474"/>
            <a:ext cx="12622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Transit / Smart-City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11 of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Initial development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01152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Stage 1: Software &amp; Cloud Foundation (COMPLETED)</a:t>
            </a:r>
            <a:br/>
            <a:r>
              <a:t>100%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28800"/>
            <a:ext cx="5339748" cy="78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Built Next.js 16 Responder Dashboard with Vercel KV (Upstash Redis) live synchronization.</a:t>
            </a:r>
            <a:br/>
            <a:r>
              <a:t>&gt;&gt;  Implemented 24/7 Bilingual Voice Sentinel (30+ Hindi/English keywords + Devanagari &amp; phonetic mapping).</a:t>
            </a:r>
            <a:br/>
            <a:r>
              <a:t>&gt;&gt;  Deployed Autonomous Guardian AI Agent with &lt;2s 0-click HTML Email, SMS, and ElevenLabs Fake Call.</a:t>
            </a:r>
            <a:br/>
            <a:r>
              <a:t>&gt;&gt;  Created /api/esp32 endpoint supporting TRIGGER, SYNC_OFFLINE (deduplicated), ACKNOWLEDGE, and</a:t>
            </a:r>
            <a:br/>
            <a:r>
              <a:t>RESET.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447799"/>
            <a:ext cx="5041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Stage 2: Firmware &amp; Hardware Bench Setup (ACTIVE)</a:t>
            </a:r>
            <a:br/>
            <a:r>
              <a:t>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28800"/>
            <a:ext cx="5297975" cy="78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Developed complete ESP32 firmware (hardware/esp32_guardian.ino) with 250ms debounced GPIO 4 SOS</a:t>
            </a:r>
            <a:br/>
            <a:r>
              <a:t>trigger.</a:t>
            </a:r>
            <a:br/>
            <a:r>
              <a:t>&gt;&gt;  Integrated UART2 GPS NMEA parser with explicit position-validity verification (gpsValid: true/false).</a:t>
            </a:r>
            <a:br/>
            <a:r>
              <a:t>&gt;&gt;  Implemented ESP32 NVS Flash offline event buffer (PENDING -&gt; SENT) for dead-zone resilience.</a:t>
            </a:r>
            <a:br/>
            <a:r>
              <a:t>&gt;&gt;  Executing 9-step GSN-800 / GSM cellular diagnostic protocol &amp; 2A buck power rail stabilization.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962399"/>
            <a:ext cx="50140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Stage 3: Custom PCB &amp; Wearable Casing (UPCOMING)</a:t>
            </a:r>
            <a:br/>
            <a:r>
              <a:t>NEXT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343400"/>
            <a:ext cx="5243674" cy="6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Consolidate breadboard wiring onto a compact 2-layer PCB (45mm x 38mm) with common ground plane.</a:t>
            </a:r>
            <a:br/>
            <a:r>
              <a:t>&gt;&gt;  Add 1000uF low-ESR tantalum/electrolytic decoupling capacitor directly across GSM VCC/GND pins.</a:t>
            </a:r>
            <a:br/>
            <a:r>
              <a:t>&gt;&gt;  3D-print ergonomic ABS/PETG wristband &amp; keychain pendant casing with recessed anti-false-trigger SOS</a:t>
            </a:r>
            <a:br/>
            <a:r>
              <a:t>button.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962399"/>
            <a:ext cx="4996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Stage 4: 12-Point Field Validation &amp; Pilot (UPCOMING)</a:t>
            </a:r>
            <a:br/>
            <a: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4343400"/>
            <a:ext cx="5141768" cy="6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Conduct all 12 documented hardware/software tests (Power-on, Trigger, Outdoor GPS, Cellular, Offline,</a:t>
            </a:r>
            <a:br/>
            <a:r>
              <a:t>Recovery, Endurance).</a:t>
            </a:r>
            <a:br/>
            <a:r>
              <a:t>&gt;&gt;  Enforce safety &amp; privacy controls: authorized-only location access, honest delivery status, and 72-hour</a:t>
            </a:r>
            <a:br/>
            <a:r>
              <a:t>continuous burn-in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12 of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Evidence of user/problem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237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User Interaction Insights -&gt; Engineering Changes</a:t>
            </a:r>
            <a:br/>
            <a:r>
              <a:t>USER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03399"/>
            <a:ext cx="5482661" cy="2876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1. Commuter Interaction on Vocal Panic Behavior:</a:t>
            </a:r>
            <a:br/>
            <a:r>
              <a:t>   - User Feedback: Female students shared that during sudden harassment, they instinctively shout 'Bachao!' or 'Choro!'</a:t>
            </a:r>
            <a:br/>
            <a:r>
              <a:t>in Hindi rather than English commands.</a:t>
            </a:r>
            <a:br/>
            <a:r>
              <a:t>   - Engineering Action: Added 30+ weighted Hindi, Hinglish, and Devanagari keywords + phonetic STT correction ('but</a:t>
            </a:r>
            <a:br/>
            <a:r>
              <a:t>how' -&gt; 'bachao') in guardianAgent.ts.</a:t>
            </a:r>
            <a:br/>
            <a:r>
              <a:t>2. Feedback on Preventive Deterrence During Late Rides:</a:t>
            </a:r>
            <a:br/>
            <a:r>
              <a:t>   - User Feedback: Users riding alone in cabs/auto-rickshaws wanted a subtle way to show the driver that family/police</a:t>
            </a:r>
            <a:br/>
            <a:r>
              <a:t>are watching live.</a:t>
            </a:r>
            <a:br/>
            <a:r>
              <a:t>   - Engineering Action: Built the ElevenLabs Neural 'Guardian Fake Call' ('Inspector Verma / Dad') that rings the device</a:t>
            </a:r>
            <a:br/>
            <a:r>
              <a:t>and speaks protective guidance on speakerphone.</a:t>
            </a:r>
            <a:br/>
            <a:r>
              <a:t>3. Hardware Prototype Trial - Button Panic Pressing:</a:t>
            </a:r>
            <a:br/>
            <a:r>
              <a:t>   - User Feedback: Under stress, testers pressed the physical SOS button 4-5 times rapidly, risking duplicate SMS/email</a:t>
            </a:r>
            <a:br/>
            <a:r>
              <a:t>floods.</a:t>
            </a:r>
            <a:br/>
            <a:r>
              <a:t>   - Engineering Action: Added 250ms debounce + immediate Buzzer/Strobe feedback + server-side eventId</a:t>
            </a:r>
            <a:br/>
            <a:r>
              <a:t>deduplication in /api/esp32.</a:t>
            </a:r>
            <a:br/>
            <a:r>
              <a:t>4. Responder Feedback on Indoor False Locations:</a:t>
            </a:r>
            <a:br/>
            <a:r>
              <a:t>   - User Feedback: Family responders noted confusion when indoor trackers sent outdated coordinates.</a:t>
            </a:r>
            <a:br/>
            <a:r>
              <a:t>   - Engineering Action: Implemented strict gpsValid tagging so alerts clearly state 'Verified Live Fix' vs. 'Fallback</a:t>
            </a:r>
            <a:br/>
            <a:r>
              <a:t>Coordinates'.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1600" y="1447799"/>
            <a:ext cx="48793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Live Validated Software Dashboard Interface</a:t>
            </a:r>
            <a:br/>
            <a:r>
              <a:t>WORKING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1600" y="4775200"/>
            <a:ext cx="19798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Iterative Validation Loop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5105400"/>
            <a:ext cx="5015897" cy="6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Every software and hardware feature in Guardian Shield (S.H.E.L.D.) traces directly to a documented</a:t>
            </a:r>
            <a:br/>
            <a:r>
              <a:t>failure mode observed during user interviews or hardware bench testing.</a:t>
            </a:r>
            <a:br/>
            <a:r>
              <a:t>&gt;&gt;  Current prototype is live and testable both in browser simulation and via physical ESP32 hardware</a:t>
            </a:r>
            <a:br/>
            <a:r>
              <a:t>triggers.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13 of 22</a:t>
            </a:r>
          </a:p>
        </p:txBody>
      </p:sp>
      <p:pic>
        <p:nvPicPr>
          <p:cNvPr id="10" name="Picture 9" descr="guardian_software_dashboard_17917961197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19072"/>
            <a:ext cx="5303520" cy="29601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75-day work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22399"/>
            <a:ext cx="10833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75-Day Execution Roadmap Flowchart (5x 15-Day Engineering Sprints)</a:t>
            </a:r>
            <a:br/>
            <a:r>
              <a:t>75-DAY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004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Sprint 1 (Days 1-15)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137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GSN-800 Diagnostics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23" y="2168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2A Power Conditioning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241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Sprint 2 (Days 16-30)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183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ESP32 + NEO-6M GPS 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772" y="2168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Offline NVS Flash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840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Sprint 3 (Days 31-45)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3177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Bilingual Voice AI &amp;</a:t>
            </a:r>
            <a:br/>
            <a:r>
              <a:t>Cloud Dashboard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1440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Sprint 4 (Days 46-60)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7422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Wearable Casing &amp; 12-Pt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7292" y="21689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Field Validation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2040" y="1841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Sprint 5 (Days 61-75)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4284" y="203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72h Endurance Audit &amp;</a:t>
            </a:r>
            <a:br/>
            <a:r>
              <a:t>50-User Campus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3136900"/>
            <a:ext cx="104549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Sprint Window</a:t>
            </a:r>
            <a:br/>
            <a:r>
              <a:t>Primary Engineering Focus</a:t>
            </a:r>
            <a:br/>
            <a:r>
              <a:t>Concrete Tasks &amp; Verification Milestones</a:t>
            </a:r>
            <a:br/>
            <a:r>
              <a:t>Lead Owner(s)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3708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Days 1-15</a:t>
            </a:r>
            <a:br/>
            <a:r>
              <a:t>(Sprint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6100" y="3708400"/>
            <a:ext cx="127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Hardware Bench Verification</a:t>
            </a:r>
            <a:br/>
            <a:r>
              <a:t>&amp; GSN-800 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5600" y="3708400"/>
            <a:ext cx="372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Complete 9-step GSN-800 diagnostic (voltage, 2A buck regulator, AT+CSQ/CREG),</a:t>
            </a:r>
            <a:br/>
            <a:r>
              <a:t>verify GPIO 4 button debounce, and benchmark power rail stability.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5400" y="3708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Alok &amp; Yash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100" y="4279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Days 16-30</a:t>
            </a:r>
            <a:br/>
            <a:r>
              <a:t>(Sprint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6100" y="4279900"/>
            <a:ext cx="1143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GPS Positioning &amp; Offline</a:t>
            </a:r>
            <a:br/>
            <a:r>
              <a:t>Local Flash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5600" y="4279900"/>
            <a:ext cx="36607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Integrate NEO-6M GPS on UART2 with gpsValid flag; implement ESP32 NVS</a:t>
            </a:r>
            <a:br/>
            <a:r>
              <a:t>offline queue (PENDING -&gt; SENT) and /api/esp32 SYNC_OFFLINE deduplication.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5400" y="4279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Yash &amp; Sheetal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100" y="4851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Days 31-45</a:t>
            </a:r>
            <a:br/>
            <a:r>
              <a:t>(Sprint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6100" y="4851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Autonomous Voice AI &amp;</a:t>
            </a:r>
            <a:br/>
            <a:r>
              <a:t>Responder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5600" y="4851400"/>
            <a:ext cx="36047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Calibrate 24/7 Hindi/English Voice Sentinel, ElevenLabs Fake Call, 0-click</a:t>
            </a:r>
            <a:br/>
            <a:r>
              <a:t>SMTP Email + Fast2SMS/Twilio SMS, and Responder Acknowledge/Escalate UI.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5400" y="4851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Sheetal &amp; Surbhi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100" y="5422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Days 46-60</a:t>
            </a:r>
            <a:br/>
            <a:r>
              <a:t>(Sprint 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6100" y="5422900"/>
            <a:ext cx="58795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Wearable Enclosure &amp;</a:t>
            </a:r>
            <a:br/>
            <a:r>
              <a:t>12-Point Test Plan</a:t>
            </a:r>
            <a:br/>
            <a:r>
              <a:t>Fabricate compact 2-layer PCB &amp; 3D-printed wearable casing; execute and</a:t>
            </a:r>
            <a:br/>
            <a:r>
              <a:t>document all 12 validation tests across indoor, outdoor &amp; dead-zone conditions.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5400" y="5422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Alok &amp; Yash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100" y="599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Days 61-75</a:t>
            </a:r>
            <a:br/>
            <a:r>
              <a:t>(Sprint 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6100" y="599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Endurance Testing &amp;</a:t>
            </a:r>
            <a:br/>
            <a:r>
              <a:t>Campus Pilot Rollout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5600" y="5994400"/>
            <a:ext cx="34519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Conduct 72-hour continuous endurance test, run 50-student campus pilot with</a:t>
            </a:r>
            <a:br/>
            <a:r>
              <a:t>WDC/security desk, finalize production BOM (Rs. 745) &amp; Stage-2 demo pitch.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5400" y="599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All 4 Members</a:t>
            </a:r>
            <a:br/>
            <a:r>
              <a:t>(Team Nexora)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14 of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composition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409699"/>
            <a:ext cx="9318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Team Member</a:t>
            </a:r>
            <a:br/>
            <a:r>
              <a:t>Role</a:t>
            </a:r>
            <a:br/>
            <a:r>
              <a:t>Technical Subsystems Owned</a:t>
            </a:r>
            <a:br/>
            <a:r>
              <a:t>Specific Deliverables in 75-Day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993899"/>
            <a:ext cx="117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Sheetal Pal</a:t>
            </a:r>
            <a:br/>
            <a:r>
              <a:t>sheetupal136@gmail.com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1600" y="19938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TEAM LEADER</a:t>
            </a:r>
            <a:br/>
            <a:r>
              <a:t>(Cloud &amp; AI 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600" y="1993899"/>
            <a:ext cx="21911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Next.js 16 Serverless API, Vercel KV Redis,</a:t>
            </a:r>
            <a:br/>
            <a:r>
              <a:t>Autonomous AI Agent (guardianAgent.ts), SMTP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9099" y="1993899"/>
            <a:ext cx="22641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End-to-end cloud architecture, /api/esp32 sync,</a:t>
            </a:r>
            <a:br/>
            <a:r>
              <a:t>0-click Email/SMS dispatch &amp; project coordination.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25781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Surbhi Pandey</a:t>
            </a:r>
            <a:br/>
            <a:r>
              <a:t>psurbhi485@gmail.com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1600" y="25781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MEMBER</a:t>
            </a:r>
            <a:br/>
            <a:r>
              <a:t>(Voice AI &amp; UI)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600" y="2578100"/>
            <a:ext cx="22051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Bilingual Web Speech + ElevenLabs Scribe STT,</a:t>
            </a:r>
            <a:br/>
            <a:r>
              <a:t>Protective Fake Call, Responder Dashboard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9099" y="2578100"/>
            <a:ext cx="2247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Hindi/English keyword tuning ('Bachao'/'Help'),</a:t>
            </a:r>
            <a:br/>
            <a:r>
              <a:t>Responder Acknowledge/Escalate UX &amp; live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162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Yash Pratap Singh</a:t>
            </a:r>
            <a:br/>
            <a:r>
              <a:t>y2153406@gmail.com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600" y="3162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MEMBER</a:t>
            </a:r>
            <a:br/>
            <a:r>
              <a:t>(Embedded &amp; GPS)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2600" y="3162300"/>
            <a:ext cx="21513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ESP32 Firmware (esp32_guardian.ino), GPIO 4</a:t>
            </a:r>
            <a:br/>
            <a:r>
              <a:t>SOS Trigger, UART2 GPS, NVS Offline Buffer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9099" y="3162300"/>
            <a:ext cx="2281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250ms switch debouncing, NMEA gpsValid parser,</a:t>
            </a:r>
            <a:br/>
            <a:r>
              <a:t>and non-volatile offline event queue &amp; sync.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3746500"/>
            <a:ext cx="14468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Alok Kumar Singh</a:t>
            </a:r>
            <a:br/>
            <a:r>
              <a:t>aloksinghkumar006@gmail.com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1600" y="3746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MEMBER</a:t>
            </a:r>
            <a:br/>
            <a:r>
              <a:t>(RF/GSM &amp; QA)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2600" y="3746500"/>
            <a:ext cx="21680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GSM/SIM &amp; GSN-800 (UART1), 2A Buck Power</a:t>
            </a:r>
            <a:br/>
            <a:r>
              <a:t>Subsystem, 3D Enclosure, 12-Point Test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9099" y="3746500"/>
            <a:ext cx="2236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9-step GSN-800 troubleshooting, 2A burst current</a:t>
            </a:r>
            <a:br/>
            <a:r>
              <a:t>regulation, wearable casing &amp; QA certification.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470400"/>
            <a:ext cx="109297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Team Nexora Engineering Collaboration &amp; Integration Workflow</a:t>
            </a:r>
            <a:br/>
            <a:r>
              <a:t>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366" y="4914900"/>
            <a:ext cx="16568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Hardware &amp; RF Team (Yash/Alok)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6146" y="5105400"/>
            <a:ext cx="126530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ESP32 + SOS Button + GPS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7495" y="5242337"/>
            <a:ext cx="11826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GSN-800 + 2A Power Bench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1361" y="4914900"/>
            <a:ext cx="11108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IoT Bridge (/api/esp32)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950" y="5105400"/>
            <a:ext cx="11076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JSON Telemetry: eventId,</a:t>
            </a:r>
            <a:br/>
            <a:r>
              <a:t>gpsValid, SYNC_OFFLINE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2264" y="4914900"/>
            <a:ext cx="16450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Cloud &amp; Voice AI (Sheetal/Surbhi)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0027" y="5105400"/>
            <a:ext cx="1249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Autonomous Agent + Bilingual</a:t>
            </a:r>
            <a:br/>
            <a:r>
              <a:t>STT + ElevenLabs Deterrence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392" y="4914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Unified QA (All 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4337" y="5105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12-Point Validation &amp;</a:t>
            </a:r>
            <a:br/>
            <a:r>
              <a:t>Campus Field Trials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800" y="5765800"/>
            <a:ext cx="107574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Governance Cadence: Daily hardware-software sync standups, shared GitHub repository with automated TypeScript/firmware checks, and joint bench validation sign-off before marking any of the 12 hardware/software tests as</a:t>
            </a:r>
            <a:br/>
            <a:r>
              <a:t>PASSED.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15 of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Resource/facility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0902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Electronic Bench &amp; Diagnostic Equipment</a:t>
            </a:r>
            <a:br/>
            <a:r>
              <a:t>HARDWARE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28800"/>
            <a:ext cx="5329952" cy="12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Digital Storage Oscilloscope (DSO): To capture microsecond voltage droop on the 3.7V-4.2V rail during 2A</a:t>
            </a:r>
            <a:br/>
            <a:r>
              <a:t>GSM TDMA transmission bursts.</a:t>
            </a:r>
            <a:br/>
            <a:r>
              <a:t>&gt;&gt;  Programmable DC Bench Power Supply (0-15V, 5A): For current-limited standalone testing of the GSN-800</a:t>
            </a:r>
            <a:br/>
            <a:r>
              <a:t>cellular module.</a:t>
            </a:r>
            <a:br/>
            <a:r>
              <a:t>&gt;&gt;  True-RMS Digital Multimeter &amp; Continuity Tester: For pinout verification, common ground checks, and battery</a:t>
            </a:r>
            <a:br/>
            <a:r>
              <a:t>profiling.</a:t>
            </a:r>
            <a:br/>
            <a:r>
              <a:t>&gt;&gt;  USB-to-TTL Serial Adapter (3.3V/5V): For direct AT command diagnostics (AT+CPIN?, AT+CSQ,</a:t>
            </a:r>
            <a:br/>
            <a:r>
              <a:t>AT+CREG?) prior to ESP32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447799"/>
            <a:ext cx="50090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2. Fabrication &amp; Mechanical Prototyping</a:t>
            </a:r>
            <a:br/>
            <a:r>
              <a:t>FAB LAB /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28800"/>
            <a:ext cx="5199801" cy="93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Temperature-Controlled SMD/Through-Hole Soldering Station: For assembling the ESP32, buck regulator,</a:t>
            </a:r>
            <a:br/>
            <a:r>
              <a:t>and 1000uF reservoir capacitor.</a:t>
            </a:r>
            <a:br/>
            <a:r>
              <a:t>&gt;&gt;  FDM 3D Printer (ABS / PETG Filament): For fabricating the compact, impact-resistant wearable</a:t>
            </a:r>
            <a:br/>
            <a:r>
              <a:t>wristband/pendant casing with recessed SOS button.</a:t>
            </a:r>
            <a:br/>
            <a:r>
              <a:t>&gt;&gt;  2-Layer PCB Prototyping Facility: To replace jumper wires with high-reliability copper traces and dedicated</a:t>
            </a:r>
            <a:br/>
            <a:r>
              <a:t>RF/power ground planes.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962399"/>
            <a:ext cx="5021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Cloud, AI &amp; Telecom Infrastructure</a:t>
            </a:r>
            <a:br/>
            <a:r>
              <a:t>CLOUD &amp; 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343400"/>
            <a:ext cx="5188067" cy="93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Vercel Serverless Edge Network &amp; Upstash Redis (KV): Zero-cost cloud hosting for /api/esp32, /api/agent,</a:t>
            </a:r>
            <a:br/>
            <a:r>
              <a:t>and real-time incident state.</a:t>
            </a:r>
            <a:br/>
            <a:r>
              <a:t>&gt;&gt;  Active Multi-Operator SIM Cards (Airtel / Jio / Vi / BSNL 2G/4G): For testing cellular registration and SMS</a:t>
            </a:r>
            <a:br/>
            <a:r>
              <a:t>delivery across Delhi NCR.</a:t>
            </a:r>
            <a:br/>
            <a:r>
              <a:t>&gt;&gt;  ElevenLabs Neural Speech API &amp; Nodemailer SMTP / Fast2SMS Gateways: For voice deterrence and</a:t>
            </a:r>
            <a:br/>
            <a:r>
              <a:t>multi-channel emergency dispatch.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962399"/>
            <a:ext cx="50572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Field Testing &amp; Institutional Support</a:t>
            </a:r>
            <a:br/>
            <a:r>
              <a:t>PILOT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4343400"/>
            <a:ext cx="5312670" cy="93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Open-Sky &amp; Multi-Story Indoor Test Corridors: For benchmarking NEO-6M cold/warm GPS lock times and</a:t>
            </a:r>
            <a:br/>
            <a:r>
              <a:t>indoor fallback tagging.</a:t>
            </a:r>
            <a:br/>
            <a:r>
              <a:t>&gt;&gt;  Basement &amp; Metro Dead-Zone Test Routes: For validating NVS offline event retention and automatic</a:t>
            </a:r>
            <a:br/>
            <a:r>
              <a:t>SYNC_OFFLINE recovery.</a:t>
            </a:r>
            <a:br/>
            <a:r>
              <a:t>&gt;&gt;  Campus Security Desk &amp; Student Volunteer Group (50 testers): For end-to-end responder acknowledgement</a:t>
            </a:r>
            <a:br/>
            <a:r>
              <a:t>and escalation drills.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16 of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Entry and Target TRL, if 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1087891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Technology Readiness Level (TRL) Progression Flowchart: Entry TRL 4 -&gt; Target TRL 7</a:t>
            </a:r>
            <a:br/>
            <a:r>
              <a:t>TRL 4 TO TRL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305" y="1892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TRL 3 (Completed)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073" y="2082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Analytical &amp;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752" y="22197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Proof of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1439" y="1892300"/>
            <a:ext cx="11955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ENTRY: TRL 4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3247" y="2082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Breadboard Hardware 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8060" y="221973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Live Cloud AI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6540" y="1892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TRL 5 (Day 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2676" y="2082800"/>
            <a:ext cx="1234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Integrated PCB + NVS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5857" y="2219737"/>
            <a:ext cx="11078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Validated in Simulated 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7140" y="1892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TRL 6 (Day 55)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6166" y="2082800"/>
            <a:ext cx="1128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Wearable Prototype 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457" y="2219737"/>
            <a:ext cx="11078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 Outdoor/Dead-Zone 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5879" y="1892300"/>
            <a:ext cx="12502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TARGET: TRL 7 (Day 75)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569" y="2082800"/>
            <a:ext cx="11488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Field-Demonstrated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6813" y="2219737"/>
            <a:ext cx="1128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 Campus Pilot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3327400"/>
            <a:ext cx="5016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Current Entry Level: TRL 4 / TRL 5 (Hybrid Baseline)</a:t>
            </a:r>
            <a:br/>
            <a:r>
              <a:t>ENTRY TRL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708400"/>
            <a:ext cx="5328310" cy="1264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Software Subsystem at TRL 6: Next.js 16 Responder Dashboard, 24/7 Bilingual Voice Sentinel,</a:t>
            </a:r>
            <a:br/>
            <a:r>
              <a:t>Autonomous AI Agent, ElevenLabs Fake Call, and 0-click SMTP Email/SMS dispatch are fully operational and</a:t>
            </a:r>
            <a:br/>
            <a:r>
              <a:t>deployed.</a:t>
            </a:r>
            <a:br/>
            <a:r>
              <a:t>&gt;&gt;  Firmware &amp; IoT API at TRL 5: ESP32 sketch (esp32_guardian.ino) and /api/esp32 endpoint with debounced</a:t>
            </a:r>
            <a:br/>
            <a:r>
              <a:t>GPIO 4 trigger, gpsValid tagging, and NVS offline synchronization are coded and verified.</a:t>
            </a:r>
            <a:br/>
            <a:r>
              <a:t>&gt;&gt;  Hardware Subsystem at TRL 4: Breadboard integration of ESP32, SOS button, GPS, and GSN-800 cellular</a:t>
            </a:r>
            <a:br/>
            <a:r>
              <a:t>module is assembled; GSN-800 power/RF troubleshooting is actively underway using our 9-step diagnostic</a:t>
            </a:r>
            <a:br/>
            <a:r>
              <a:t>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3327400"/>
            <a:ext cx="504704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75-Day Target Level: TRL 7 (Operational Field Prototype)</a:t>
            </a:r>
            <a:br/>
            <a:r>
              <a:t>TARGET TRL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3708400"/>
            <a:ext cx="5081858" cy="94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Resolved &amp; Certified Cellular Transport: GSN-800 / SIM800L operating reliably on a regulated 2A buck</a:t>
            </a:r>
            <a:br/>
            <a:r>
              <a:t>power rail with verified multi-band antenna and automatic Wi-Fi/GSM failover.</a:t>
            </a:r>
            <a:br/>
            <a:r>
              <a:t>&gt;&gt;  Wearable Form-Factor Enclosure: Custom 2-layer PCB housed in a 3D-printed wearable</a:t>
            </a:r>
            <a:br/>
            <a:r>
              <a:t>wristband/keychain casing with Li-Po battery protection and status indicators.</a:t>
            </a:r>
            <a:br/>
            <a:r>
              <a:t>&gt;&gt;  12-Point Validation &amp; 50-User Pilot Sign-off: Demonstrated in real operational environments (campus</a:t>
            </a:r>
            <a:br/>
            <a:r>
              <a:t>corridors, metro dead zones, and security control rooms) with documented pass/fail logs.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17 of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drawings/calculations/simulation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22399"/>
            <a:ext cx="108585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S.H.E.L.D. Hardware Schematic &amp; Prototype</a:t>
            </a:r>
            <a:br/>
            <a:r>
              <a:t>HARDWARE CAD</a:t>
            </a:r>
            <a:br/>
            <a:r>
              <a:t>2. Guardian Shield AI &amp; IoT Telemetry Simulation</a:t>
            </a:r>
            <a:br/>
            <a:r>
              <a:t>SOFTWARE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4762500"/>
            <a:ext cx="88343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ESP32 Pin</a:t>
            </a:r>
            <a:br/>
            <a:r>
              <a:t>Connected Hardware Module</a:t>
            </a:r>
            <a:br/>
            <a:r>
              <a:t>Signal Type &amp; Electrical Spec</a:t>
            </a:r>
            <a:br/>
            <a:r>
              <a:t>Firmware / Software Handler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5105400"/>
            <a:ext cx="9562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GPIO 4</a:t>
            </a:r>
            <a:br/>
            <a:r>
              <a:t>Physical SOS Push Button</a:t>
            </a:r>
            <a:br/>
            <a:r>
              <a:t>Active-LOW Input (INPUT_PULLUP, 250ms debounce)</a:t>
            </a:r>
            <a:br/>
            <a:r>
              <a:t>handleEmergencyEvent() -&gt; POST /api/esp32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5448300"/>
            <a:ext cx="93367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GPIO 16 / 17</a:t>
            </a:r>
            <a:br/>
            <a:r>
              <a:t>U-blox NEO-6M GPS Receiver</a:t>
            </a:r>
            <a:br/>
            <a:r>
              <a:t>UART2 (9600 baud 8N1 NMEA $GPRMC/$GPGGA)</a:t>
            </a:r>
            <a:br/>
            <a:r>
              <a:t>updateGpsCoordinates() -&gt; gpsValid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5791200"/>
            <a:ext cx="96891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GPIO 26 / 27</a:t>
            </a:r>
            <a:br/>
            <a:r>
              <a:t>GSN-800 / SIM800L GSM Module</a:t>
            </a:r>
            <a:br/>
            <a:r>
              <a:t>UART1 (AT Commands) + 3.7V-4.2V 2A Buck Rail</a:t>
            </a:r>
            <a:br/>
            <a:r>
              <a:t>diagnoseGsmModule() &amp; sendCellularSmsAlert()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6134100"/>
            <a:ext cx="9367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GPIO 2 &amp; GPIO 5</a:t>
            </a:r>
            <a:br/>
            <a:r>
              <a:t>Piezo Siren Buzzer &amp; Strobe LED</a:t>
            </a:r>
            <a:br/>
            <a:r>
              <a:t>Digital Output (3.3V/5V Transistor Driver)</a:t>
            </a:r>
            <a:br/>
            <a:r>
              <a:t>triggerLocalAlarm(true) on ACTIVE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18 of 22</a:t>
            </a:r>
          </a:p>
        </p:txBody>
      </p:sp>
      <p:pic>
        <p:nvPicPr>
          <p:cNvPr id="11" name="Picture 10" descr="shield_hardware_prototype_17917961042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9072"/>
            <a:ext cx="5577840" cy="3113213"/>
          </a:xfrm>
          <a:prstGeom prst="rect">
            <a:avLst/>
          </a:prstGeom>
        </p:spPr>
      </p:pic>
      <p:pic>
        <p:nvPicPr>
          <p:cNvPr id="12" name="Picture 11" descr="guardian_software_dashboard_17917961197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19072"/>
            <a:ext cx="5394960" cy="3011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Literature/patent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409700"/>
            <a:ext cx="100500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Prior Art / Patent / Literature</a:t>
            </a:r>
            <a:br/>
            <a:r>
              <a:t>Core Mechanism</a:t>
            </a:r>
            <a:br/>
            <a:r>
              <a:t>Identified Technical Limitation</a:t>
            </a:r>
            <a:br/>
            <a:r>
              <a:t>Advancement in Guardian Shield (S.H.E.L.D.)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993899"/>
            <a:ext cx="13104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US Patent US10410500B2</a:t>
            </a:r>
            <a:br/>
            <a:r>
              <a:t>(BLE Wearable Panic Button)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8600" y="1993899"/>
            <a:ext cx="159504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Bluetooth Low Energy button paired</a:t>
            </a:r>
            <a:br/>
            <a:r>
              <a:t>to user's smartphone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2100" y="1993899"/>
            <a:ext cx="16894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Fails completely if smartphone battery</a:t>
            </a:r>
            <a:br/>
            <a:r>
              <a:t>is dead, locked, or &gt;10m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6600" y="1993899"/>
            <a:ext cx="2068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Standalone ESP32 + GSM/GSN-800 cellular +</a:t>
            </a:r>
            <a:br/>
            <a:r>
              <a:t>Wi-Fi bridge operates independent of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2578100"/>
            <a:ext cx="1455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IN202141029384 (Indian Patent)</a:t>
            </a:r>
            <a:br/>
            <a:r>
              <a:t>IoT Women Safety 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8600" y="2578100"/>
            <a:ext cx="15056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Arduino + SIM800L + NEO-6M</a:t>
            </a:r>
            <a:br/>
            <a:r>
              <a:t>sending raw SMS on button 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2100" y="2578100"/>
            <a:ext cx="16003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Drops alerts in network dead zones;</a:t>
            </a:r>
            <a:br/>
            <a:r>
              <a:t>sends 0.0000 coords indoors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600" y="2578100"/>
            <a:ext cx="20657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NVS Offline Flash Queue (SYNC_OFFLINE) +</a:t>
            </a:r>
            <a:br/>
            <a:r>
              <a:t>explicit gpsValid: true/false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162300"/>
            <a:ext cx="13826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IEEE IoT Journal (2023)</a:t>
            </a:r>
            <a:br/>
            <a:r>
              <a:t>Wearable Emergency Trackers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8600" y="3162300"/>
            <a:ext cx="1611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Evaluated power failures in compact</a:t>
            </a:r>
            <a:br/>
            <a:r>
              <a:t>GSM/GPRS personal trackers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3162300"/>
            <a:ext cx="1516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38% of prototypes reset during 2A</a:t>
            </a:r>
            <a:br/>
            <a:r>
              <a:t>GSM TX bursts due to LDO droop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600" y="3162300"/>
            <a:ext cx="196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Dedicated 2A Buck Regulator + 1000uF cap</a:t>
            </a:r>
            <a:br/>
            <a:r>
              <a:t>+ 9-step GSN-800 diagnostic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3746500"/>
            <a:ext cx="13048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ACM Speech &amp; Audio (2024)</a:t>
            </a:r>
            <a:br/>
            <a:r>
              <a:t>Voice SOS Keyword Spotting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8600" y="3746500"/>
            <a:ext cx="1589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English-only voice keyword spotting</a:t>
            </a:r>
            <a:br/>
            <a:r>
              <a:t>('Help', 'Emergency') on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2100" y="3746500"/>
            <a:ext cx="14831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High miss rate for Indian bilingual</a:t>
            </a:r>
            <a:br/>
            <a:r>
              <a:t>speakers crying 'Bachao'/'Madad'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746500"/>
            <a:ext cx="1981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30+ Hindi/English/Devanagari keywords +</a:t>
            </a:r>
            <a:br/>
            <a:r>
              <a:t>phonetic STT tolerance ('but how'-&gt;'bachao')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4330700"/>
            <a:ext cx="12381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Commercial Safety Apps</a:t>
            </a:r>
            <a:br/>
            <a:r>
              <a:t>(bSafe / 112 India / Life360)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8600" y="4330700"/>
            <a:ext cx="16004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Mobile app with manual SOS button</a:t>
            </a:r>
            <a:br/>
            <a:r>
              <a:t>and live location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4330700"/>
            <a:ext cx="16116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15-25s screen unlock friction;</a:t>
            </a:r>
            <a:br/>
            <a:r>
              <a:t>no active acoustic attacker deterrent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4330700"/>
            <a:ext cx="19295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&lt;2s 0-click AI Agent dispatch + ElevenLabs</a:t>
            </a:r>
            <a:br/>
            <a:r>
              <a:t>Protective Fake Call ('Inspector Verma')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156200"/>
            <a:ext cx="37725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Literature Survey Synthesis: The Unmet Research &amp; Product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5486400"/>
            <a:ext cx="105994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Prior literature treats hardware panic buttons and AI voice safety apps as separate silos - leaving hardware devices without intelligent escalation/offline deduplication, and software apps vulnerable to phone snatching.</a:t>
            </a:r>
            <a:br/>
            <a:r>
              <a:t>&gt;&gt;  Guardian Shield (S.H.E.L.D.) bridges both domains into a single unified, fault-tolerant cyber-physical emergency response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19 of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Laboratory/fabrication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0902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Embedded Systems &amp; Electronics Workbench</a:t>
            </a:r>
            <a:br/>
            <a:r>
              <a:t>ACTIVE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54200"/>
            <a:ext cx="5311585" cy="63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Equipped with ESP32 flashing toolchains (Arduino IDE / PlatformIO), logic probes, digital multimeters, and</a:t>
            </a:r>
            <a:br/>
            <a:r>
              <a:t>regulated DC bench supplies.</a:t>
            </a:r>
            <a:br/>
            <a:r>
              <a:t>&gt;&gt;  Used directly by Team Nexora to develop esp32_guardian.ino, test GPIO 4 button debouncing, and</a:t>
            </a:r>
            <a:br/>
            <a:r>
              <a:t>perform the 9-step GSN-800 diagnostic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447799"/>
            <a:ext cx="5031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2. University Innovation &amp; Maker Fab-Lab Access</a:t>
            </a:r>
            <a:br/>
            <a:r>
              <a:t>FABRICATION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54200"/>
            <a:ext cx="5335621" cy="63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Access to institutional Electronics &amp; IoT laboratories and Maker Spaces (DTU / College Innovation Cell) for</a:t>
            </a:r>
            <a:br/>
            <a:r>
              <a:t>oscilloscope burst profiling.</a:t>
            </a:r>
            <a:br/>
            <a:r>
              <a:t>&gt;&gt;  FDM 3D Printing facility access for rapid iteration of the wearable S.H.E.L.D. wristband/keychain</a:t>
            </a:r>
            <a:br/>
            <a:r>
              <a:t>enclosure.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962399"/>
            <a:ext cx="49962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Cloud AI &amp; Telemetry DevOps Testbed</a:t>
            </a:r>
            <a:br/>
            <a:r>
              <a:t>LIVE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368800"/>
            <a:ext cx="5320539" cy="63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Live production-grade Next.js 16 + Upstash Redis (Vercel KV) cloud environment with real-time /api/esp32</a:t>
            </a:r>
            <a:br/>
            <a:r>
              <a:t>hardware telemetry logging.</a:t>
            </a:r>
            <a:br/>
            <a:r>
              <a:t>&gt;&gt;  Integrated test harnesses for simulating offline network drops, NVS queue recovery, and multi-channel</a:t>
            </a:r>
            <a:br/>
            <a:r>
              <a:t>SMTP/SMS dispatch.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962399"/>
            <a:ext cx="502674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Outdoor RF &amp; Campus Pilot Testing Grounds</a:t>
            </a:r>
            <a:br/>
            <a:r>
              <a:t>FIELD TRIALS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4368800"/>
            <a:ext cx="5323937" cy="472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Open-sky campus quadrangles for NEO-6M GPS satellite lock benchmarking and accuracy verification.</a:t>
            </a:r>
            <a:br/>
            <a:r>
              <a:t>&gt;&gt;  Basement corridors and transit zones for validating offline NVS buffering and responder acknowledgement</a:t>
            </a:r>
            <a:br/>
            <a:r>
              <a:t>latency.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20 of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Novelty and IPR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50013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1. Dual-Modal Zero-Click Trigger Fusion (HW + Voice)</a:t>
            </a:r>
            <a:br/>
            <a:r>
              <a:t>NOVELTY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28800"/>
            <a:ext cx="5243891" cy="46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First architecture to unify a debounced physical hardware SOS trigger (GPIO 4) with a 24/7 Bilingual</a:t>
            </a:r>
            <a:br/>
            <a:r>
              <a:t>Hindi/English Voice Sentinel ('Bachao', 'Help') and phonetic STT correction ('but how' -&gt; 'bachao') on a shared</a:t>
            </a:r>
            <a:br/>
            <a:r>
              <a:t>cloud state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447799"/>
            <a:ext cx="5001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2. Offline-First NVS Queue with eventId Deduplication</a:t>
            </a:r>
            <a:br/>
            <a:r>
              <a:t>NOVELTY 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28800"/>
            <a:ext cx="4967430" cy="46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Unlike standard GSM trackers that drop alerts in dead zones, S.H.E.L.D. buffers timestamped SOS</a:t>
            </a:r>
            <a:br/>
            <a:r>
              <a:t>payloads in non-volatile flash (PENDING) and executes idempotent SYNC_OFFLINE recovery with zero</a:t>
            </a:r>
            <a:br/>
            <a:r>
              <a:t>duplicate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174999"/>
            <a:ext cx="50013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Honest GPS Fix-Validity Verification (gpsValid)</a:t>
            </a:r>
            <a:br/>
            <a:r>
              <a:t>NOVELTY #3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556000"/>
            <a:ext cx="5153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Hardware-to-dashboard integrity protocol that explicitly distinguishes a verified live satellite fix (gpsValid:</a:t>
            </a:r>
            <a:br/>
            <a:r>
              <a:t>true) from unavailable/fallback indoor coordinates, preventing responder misdirection.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174999"/>
            <a:ext cx="5001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Active Neural Deterrence + Closed-Loop Escalation</a:t>
            </a:r>
            <a:br/>
            <a:r>
              <a:t>NOVELTY #4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556000"/>
            <a:ext cx="52574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Combines physical 95dB siren/strobe with an ElevenLabs Neural 'Protective Fake Call' ('Inspector Verma /</a:t>
            </a:r>
            <a:br/>
            <a:r>
              <a:t>Dad') and a live Responder Acknowledgement &amp; Escalation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4978400"/>
            <a:ext cx="10883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Intellectual Property Rights (IPR) &amp; Patent Filing Roadmap</a:t>
            </a:r>
            <a:br/>
            <a:r>
              <a:t>IPR POTENTIAL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334000"/>
            <a:ext cx="10504515" cy="46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&gt;&gt;  1. Provisional Indian Utility Patent Claim: 'A Fault-Tolerant Hybrid Wearable and Bilingual Voice-Activated Emergency Response System with Non-Volatile Offline Event Deduplication and Verified Positioning Tagging.'</a:t>
            </a:r>
            <a:br/>
            <a:r>
              <a:t>&gt;&gt;  2. Industrial Design Registration: Ergonomic wearable wristband/pendant enclosure featuring a recessed anti-false-trigger tactile SOS actuator and integrated dual-antenna layout.</a:t>
            </a:r>
            <a:br/>
            <a:r>
              <a:t>&gt;&gt;  3. Software Copyright: Autonomous Guardian AI Agent (guardianAgent.ts), Bilingual Phonetic Distress Lexicon, and S.H.E.L.D. ESP32 Firmware.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21 of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va_head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720"/>
            <a:ext cx="3767667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713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47799"/>
            <a:ext cx="108534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Technical Datasheets, Standards &amp; Academic References</a:t>
            </a:r>
            <a:br/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854199"/>
            <a:ext cx="88683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1. Espressif Systems, 'ESP32-WROOM-32 Datasheet &amp; Technical Reference Manual - Non-Volatile Storage (NVS) Library &amp; Dual-UART Hardware Serial Architecture,' v4.9,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184350"/>
            <a:ext cx="92661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2. u-blox AG, 'NEO-6 Series Versatile u-blox 6 GPS Modules Data Sheet &amp; NMEA-0183 Protocol Specification ($GPRMC / $GPGGA Position Fix Validity Flags),' Doc. GPS.G6-HW-09005.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514500"/>
            <a:ext cx="1029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SIMCom Wireless Solutions / 800-Series GSM/GPRS Hardware Design Manual, 'Power Supply Design Guidelines for 2.0A Peak TDMA Burst Current &amp; AT Command Set (AT+CPIN, AT+CSQ, AT+CREG).'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844650"/>
            <a:ext cx="83713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National Crime Records Bureau (NCRB), Ministry of Home Affairs, Govt. of India, 'Crime in India &amp; Urban Commuter Emergency Response Time Analysis,' 2023-2024.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174800"/>
            <a:ext cx="95842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5. R. Kumar et al., 'IoT-Enabled Wearable Women Safety Devices with Edge Buffering and Multi-Channel Cloud Alerting,' IEEE Internet of Things Journal, vol. 10, no. 14, pp. 12450-12462,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504951"/>
            <a:ext cx="105154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6. S. Sharma and P. Verma, 'Bilingual Speech Emotion and Distress Keyword Recognition for Indian Languages in High-Noise Environments,' ACM Transactions on Asian and Low-Resource Language Information</a:t>
            </a:r>
            <a:br/>
            <a:r>
              <a:t>Processing,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000176"/>
            <a:ext cx="82227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7. W3C Web Speech API Specification &amp; ElevenLabs Neural Speech Synthesis ('eleven_turbo_v2_5' &amp; 'scribe_v1' Low-Latency Streaming API Documentation),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330326"/>
            <a:ext cx="811121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8. Upstash Redis &amp; Vercel Serverless Edge Functions Documentation, 'Low-Latency State Synchronization for Real-Time IoT Telemetry Bridges (/api/esp32),' 2025.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660477"/>
            <a:ext cx="97756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9. Project Principle (Team Nexora - S.H.E.L.D.): 'A physical SOS trigger should initiate a traceable emergency workflow, with honest reporting of location availability, connectivity, and delivery status.'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0" y="6629400"/>
            <a:ext cx="11480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GUARDIAN SHIELD (S.H.E.L.D.)  |  Team Nexora  |  DTU - SEVA First Innovation Challenge 2026</a:t>
            </a:r>
            <a:br/>
            <a:r>
              <a:t>Slide 22 of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